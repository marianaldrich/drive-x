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Onest SemiBold"/>
      <p:regular r:id="rId15"/>
      <p:bold r:id="rId16"/>
    </p:embeddedFont>
    <p:embeddedFont>
      <p:font typeface="Onest"/>
      <p:regular r:id="rId17"/>
      <p:bold r:id="rId18"/>
    </p:embeddedFont>
    <p:embeddedFont>
      <p:font typeface="Onest Medium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p6GjxHrzz9zoG1LbNghHHho6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font" Target="fonts/OnestSemiBold-regular.fntdata"/><Relationship Id="rId16" Type="http://schemas.openxmlformats.org/officeDocument/2006/relationships/font" Target="fonts/OnestSemiBold-bold.fntdata"/><Relationship Id="rId17" Type="http://schemas.openxmlformats.org/officeDocument/2006/relationships/font" Target="fonts/Onest-regular.fntdata"/><Relationship Id="rId18" Type="http://schemas.openxmlformats.org/officeDocument/2006/relationships/font" Target="fonts/Onest-bold.fntdata"/><Relationship Id="rId19" Type="http://schemas.openxmlformats.org/officeDocument/2006/relationships/font" Target="fonts/OnestMedium-regular.fntdata"/><Relationship Id="rId20" Type="http://schemas.openxmlformats.org/officeDocument/2006/relationships/font" Target="fonts/OnestMedium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nest"/>
              <a:buNone/>
              <a:defRPr b="1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indent="-292100" lvl="7" marL="3657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indent="-292100" lvl="8" marL="4114800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2" type="sldNum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>
        <p15:guide id="1" pos="302">
          <p15:clr>
            <a:srgbClr val="F26B43"/>
          </p15:clr>
        </p15:guide>
        <p15:guide id="2" pos="402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:notes"/>
          <p:cNvSpPr/>
          <p:nvPr>
            <p:ph idx="2" type="sldImg"/>
          </p:nvPr>
        </p:nvSpPr>
        <p:spPr>
          <a:xfrm>
            <a:off x="476250" y="611188"/>
            <a:ext cx="5903913" cy="3321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:notes"/>
          <p:cNvSpPr txBox="1"/>
          <p:nvPr>
            <p:ph idx="12" type="sldNum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0a01e16747_2_29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0a01e16747_2_29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40a01e16747_2_29:notes"/>
          <p:cNvSpPr txBox="1"/>
          <p:nvPr>
            <p:ph idx="12" type="sldNum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476672" y="611560"/>
            <a:ext cx="5904000" cy="332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| Picture Light" showMasterSp="0">
  <p:cSld name="Title | Picture Ligh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/>
          <p:nvPr>
            <p:ph idx="2" type="pic"/>
          </p:nvPr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5"/>
          <p:cNvSpPr/>
          <p:nvPr/>
        </p:nvSpPr>
        <p:spPr>
          <a:xfrm>
            <a:off x="12432704" y="1628800"/>
            <a:ext cx="1512168" cy="72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45" y="61576"/>
                </a:moveTo>
                <a:lnTo>
                  <a:pt x="-18094" y="61651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Adjust transparency of the picture to ensure readability.</a:t>
            </a:r>
            <a:endParaRPr/>
          </a:p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type="ctrTitle"/>
          </p:nvPr>
        </p:nvSpPr>
        <p:spPr>
          <a:xfrm>
            <a:off x="623393" y="2493048"/>
            <a:ext cx="691247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b="0" i="0" sz="40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3" type="subTitle"/>
          </p:nvPr>
        </p:nvSpPr>
        <p:spPr>
          <a:xfrm>
            <a:off x="623393" y="3861128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4" type="body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noFill/>
          <a:ln cap="flat" cmpd="sng" w="9525">
            <a:solidFill>
              <a:schemeClr val="dk2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type="title"/>
          </p:nvPr>
        </p:nvSpPr>
        <p:spPr>
          <a:xfrm>
            <a:off x="623392" y="620688"/>
            <a:ext cx="1727696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2351088" y="1773237"/>
            <a:ext cx="4607737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3175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indent="-317500" lvl="2" marL="1371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indent="-317500" lvl="3" marL="18288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indent="-317500" lvl="4" marL="22860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indent="-317500" lvl="5" marL="27432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indent="-317500" lvl="6" marL="32004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indent="-317500" lvl="7" marL="3657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indent="-317500" lvl="8" marL="4114800" algn="l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400"/>
              <a:buFont typeface="Onest"/>
              <a:buChar char="–"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7535864" y="1773782"/>
            <a:ext cx="4032250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 SemiBold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indent="-228600" lvl="2" marL="1371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148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>
          <p15:clr>
            <a:srgbClr val="5ACBF0"/>
          </p15:clr>
        </p15:guide>
        <p15:guide id="7" pos="393">
          <p15:clr>
            <a:srgbClr val="5ACBF0"/>
          </p15:clr>
        </p15:guide>
        <p15:guide id="8" pos="438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00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type="title"/>
          </p:nvPr>
        </p:nvSpPr>
        <p:spPr>
          <a:xfrm>
            <a:off x="631852" y="2348880"/>
            <a:ext cx="5184000" cy="122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/>
          <p:nvPr/>
        </p:nvSpPr>
        <p:spPr>
          <a:xfrm>
            <a:off x="6363496" y="1028962"/>
            <a:ext cx="5828504" cy="58290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117">
          <p15:clr>
            <a:srgbClr val="5ACBF0"/>
          </p15:clr>
        </p15:guide>
        <p15:guide id="2" pos="393">
          <p15:clr>
            <a:srgbClr val="5ACBF0"/>
          </p15:clr>
        </p15:guide>
        <p15:guide id="3" pos="3659">
          <p15:clr>
            <a:srgbClr val="5ACBF0"/>
          </p15:clr>
        </p15:guide>
        <p15:guide id="4" orient="horz" pos="225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ntent">
  <p:cSld name="One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8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623872" y="1773237"/>
            <a:ext cx="10944224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 showMasterSp="0">
  <p:cSld name="Contac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503613" y="2913719"/>
            <a:ext cx="2880522" cy="1008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6959599" y="3284984"/>
            <a:ext cx="3457575" cy="29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2pPr>
            <a:lvl3pPr indent="-22860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b="0" sz="1400"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sz="1400"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sz="1400"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400"/>
              <a:buNone/>
              <a:defRPr b="0" sz="1400"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80" name="Google Shape;80;p19"/>
          <p:cNvSpPr/>
          <p:nvPr/>
        </p:nvSpPr>
        <p:spPr>
          <a:xfrm rot="10800000">
            <a:off x="1" y="0"/>
            <a:ext cx="258502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/>
          <p:nvPr>
            <p:ph idx="2" type="pic"/>
          </p:nvPr>
        </p:nvSpPr>
        <p:spPr>
          <a:xfrm>
            <a:off x="6959600" y="620712"/>
            <a:ext cx="3457575" cy="23040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700"/>
              <a:buFont typeface="Arial"/>
              <a:buNone/>
              <a:defRPr b="0" i="0" sz="700" u="none" cap="none" strike="noStrike"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85" name="Google Shape;85;p19"/>
          <p:cNvSpPr/>
          <p:nvPr/>
        </p:nvSpPr>
        <p:spPr>
          <a:xfrm>
            <a:off x="11060443" y="239793"/>
            <a:ext cx="507653" cy="17606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6562">
          <p15:clr>
            <a:srgbClr val="5ACBF0"/>
          </p15:clr>
        </p15:guide>
        <p15:guide id="3" orient="horz" pos="391">
          <p15:clr>
            <a:srgbClr val="5ACBF0"/>
          </p15:clr>
        </p15:guide>
        <p15:guide id="4" pos="438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| Quadrant Bar" showMasterSp="0">
  <p:cSld name="Title | Quadrant Ba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8256241" y="1"/>
            <a:ext cx="393576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623888" y="30689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type="ctrTitle"/>
          </p:nvPr>
        </p:nvSpPr>
        <p:spPr>
          <a:xfrm>
            <a:off x="623393" y="3429176"/>
            <a:ext cx="691247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b="0" i="0" sz="40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2" type="subTitle"/>
          </p:nvPr>
        </p:nvSpPr>
        <p:spPr>
          <a:xfrm>
            <a:off x="623393" y="4797256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623872" y="6525360"/>
            <a:ext cx="460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2" name="Google Shape;92;p20"/>
          <p:cNvSpPr txBox="1"/>
          <p:nvPr/>
        </p:nvSpPr>
        <p:spPr>
          <a:xfrm>
            <a:off x="5232400" y="6525360"/>
            <a:ext cx="230376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© 2026 BlackBerry Limited. All rights reserved.</a:t>
            </a:r>
            <a:endParaRPr b="0" i="0" sz="700" u="none" cap="none" strike="noStrike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623392" y="620689"/>
            <a:ext cx="1080000" cy="3745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933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3475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| Quadrant Radial" showMasterSp="0">
  <p:cSld name="Title | Quadrant Radial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623888" y="30689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type="ctrTitle"/>
          </p:nvPr>
        </p:nvSpPr>
        <p:spPr>
          <a:xfrm>
            <a:off x="623393" y="3429176"/>
            <a:ext cx="691247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b="0" i="0" sz="40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2" type="subTitle"/>
          </p:nvPr>
        </p:nvSpPr>
        <p:spPr>
          <a:xfrm>
            <a:off x="623393" y="4797256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623872" y="6525360"/>
            <a:ext cx="460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9" name="Google Shape;99;p21"/>
          <p:cNvSpPr txBox="1"/>
          <p:nvPr/>
        </p:nvSpPr>
        <p:spPr>
          <a:xfrm>
            <a:off x="5231872" y="6525360"/>
            <a:ext cx="23042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© 2026 BlackBerry Limited. All rights reserved.</a:t>
            </a:r>
            <a:endParaRPr b="0" i="0" sz="700" u="none" cap="none" strike="noStrike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0" name="Google Shape;100;p21"/>
          <p:cNvSpPr/>
          <p:nvPr/>
        </p:nvSpPr>
        <p:spPr>
          <a:xfrm>
            <a:off x="623392" y="620689"/>
            <a:ext cx="1080000" cy="374567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1"/>
          <p:cNvSpPr/>
          <p:nvPr/>
        </p:nvSpPr>
        <p:spPr>
          <a:xfrm>
            <a:off x="8250000" y="0"/>
            <a:ext cx="394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933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3475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| Half Picture" showMasterSp="0">
  <p:cSld name="Title | Half Pictur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623888" y="2132856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type="ctrTitle"/>
          </p:nvPr>
        </p:nvSpPr>
        <p:spPr>
          <a:xfrm>
            <a:off x="623393" y="2493072"/>
            <a:ext cx="51840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b="0" i="0" sz="40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2" type="subTitle"/>
          </p:nvPr>
        </p:nvSpPr>
        <p:spPr>
          <a:xfrm>
            <a:off x="623393" y="3861152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106" name="Google Shape;106;p22"/>
          <p:cNvSpPr/>
          <p:nvPr/>
        </p:nvSpPr>
        <p:spPr>
          <a:xfrm>
            <a:off x="623392" y="620689"/>
            <a:ext cx="1080000" cy="374567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2"/>
          <p:cNvSpPr/>
          <p:nvPr>
            <p:ph idx="3" type="pic"/>
          </p:nvPr>
        </p:nvSpPr>
        <p:spPr>
          <a:xfrm>
            <a:off x="6092271" y="0"/>
            <a:ext cx="609972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FFFFFF"/>
                </a:solidFill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3659">
          <p15:clr>
            <a:srgbClr val="5ACBF0"/>
          </p15:clr>
        </p15:guide>
        <p15:guide id="4" orient="horz" pos="2886">
          <p15:clr>
            <a:srgbClr val="5ACBF0"/>
          </p15:clr>
        </p15:guide>
        <p15:guide id="5" pos="7287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| Picture Dark" showMasterSp="0">
  <p:cSld name="Title | Picture Dark"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type="ctrTitle"/>
          </p:nvPr>
        </p:nvSpPr>
        <p:spPr>
          <a:xfrm>
            <a:off x="623393" y="2493048"/>
            <a:ext cx="691247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nest Medium"/>
              <a:buNone/>
              <a:defRPr b="0" i="0" sz="4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3" type="subTitle"/>
          </p:nvPr>
        </p:nvSpPr>
        <p:spPr>
          <a:xfrm>
            <a:off x="623393" y="3861128"/>
            <a:ext cx="518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sz="14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sz="1000">
                <a:solidFill>
                  <a:schemeClr val="lt1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4" type="body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noFill/>
          <a:ln cap="flat" cmpd="sng" w="9525">
            <a:solidFill>
              <a:schemeClr val="dk2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sz="1000"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17" name="Google Shape;117;p23"/>
          <p:cNvSpPr/>
          <p:nvPr/>
        </p:nvSpPr>
        <p:spPr>
          <a:xfrm>
            <a:off x="12432704" y="1628800"/>
            <a:ext cx="1512168" cy="72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45" y="61576"/>
                </a:moveTo>
                <a:lnTo>
                  <a:pt x="-18094" y="61651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Adjust transparency of the picture to ensure readability.</a:t>
            </a:r>
            <a:endParaRPr/>
          </a:p>
        </p:txBody>
      </p:sp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FFFFFF"/>
                </a:solidFill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4"/>
          <p:cNvSpPr txBox="1"/>
          <p:nvPr>
            <p:ph type="title"/>
          </p:nvPr>
        </p:nvSpPr>
        <p:spPr>
          <a:xfrm>
            <a:off x="623392" y="620687"/>
            <a:ext cx="691197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2351584" y="1773237"/>
            <a:ext cx="4032000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 SemiBold"/>
              <a:buNone/>
              <a:defRPr sz="1400"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2" type="body"/>
          </p:nvPr>
        </p:nvSpPr>
        <p:spPr>
          <a:xfrm>
            <a:off x="7536608" y="1773237"/>
            <a:ext cx="4032000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 SemiBold"/>
              <a:buNone/>
              <a:defRPr sz="1400"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indent="-2286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148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>
          <p15:clr>
            <a:srgbClr val="5ACBF0"/>
          </p15:clr>
        </p15:guide>
        <p15:guide id="7" pos="4021">
          <p15:clr>
            <a:srgbClr val="5ACBF0"/>
          </p15:clr>
        </p15:guide>
        <p15:guide id="8" pos="393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| Picture" showMasterSp="0">
  <p:cSld name="Divider | Picture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>
            <p:ph idx="2" type="pic"/>
          </p:nvPr>
        </p:nvSpPr>
        <p:spPr>
          <a:xfrm>
            <a:off x="6092271" y="0"/>
            <a:ext cx="609972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 b="0" i="0" sz="700" u="none" cap="none" strike="noStrike">
                <a:solidFill>
                  <a:srgbClr val="FFFFFF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00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indent="-2286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indent="-2286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indent="-2286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indent="-2286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631852" y="2348880"/>
            <a:ext cx="5184000" cy="122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nest Medium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0" type="dt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FFFFFF"/>
                </a:solidFill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3" type="body"/>
          </p:nvPr>
        </p:nvSpPr>
        <p:spPr>
          <a:xfrm>
            <a:off x="11060496" y="239458"/>
            <a:ext cx="507600" cy="176400"/>
          </a:xfrm>
          <a:prstGeom prst="rect">
            <a:avLst/>
          </a:prstGeom>
          <a:noFill/>
          <a:ln cap="flat" cmpd="sng" w="9525">
            <a:solidFill>
              <a:schemeClr val="dk2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17">
          <p15:clr>
            <a:srgbClr val="5ACBF0"/>
          </p15:clr>
        </p15:guide>
        <p15:guide id="2" pos="393">
          <p15:clr>
            <a:srgbClr val="5ACBF0"/>
          </p15:clr>
        </p15:guide>
        <p15:guide id="3" pos="3659">
          <p15:clr>
            <a:srgbClr val="5ACBF0"/>
          </p15:clr>
        </p15:guide>
        <p15:guide id="4" orient="horz" pos="225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ntent | Margin">
  <p:cSld name="One Content | Margi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8112125" y="0"/>
            <a:ext cx="4079875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623888" y="620687"/>
            <a:ext cx="6911975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3872" y="1773238"/>
            <a:ext cx="6911991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2" type="body"/>
          </p:nvPr>
        </p:nvSpPr>
        <p:spPr>
          <a:xfrm>
            <a:off x="8688388" y="1773238"/>
            <a:ext cx="287972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 sz="1000"/>
            </a:lvl3pPr>
            <a:lvl4pPr indent="-2921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 sz="1000"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 sz="1000"/>
            </a:lvl9pPr>
          </a:lstStyle>
          <a:p/>
        </p:txBody>
      </p:sp>
      <p:sp>
        <p:nvSpPr>
          <p:cNvPr id="140" name="Google Shape;140;p26"/>
          <p:cNvSpPr txBox="1"/>
          <p:nvPr/>
        </p:nvSpPr>
        <p:spPr>
          <a:xfrm>
            <a:off x="8688388" y="6525360"/>
            <a:ext cx="230396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F8F8B"/>
                </a:solidFill>
                <a:latin typeface="Onest"/>
                <a:ea typeface="Onest"/>
                <a:cs typeface="Onest"/>
                <a:sym typeface="Onest"/>
              </a:rPr>
              <a:t>© 2026 BlackBerry Limited. All rights reserved.</a:t>
            </a:r>
            <a:endParaRPr/>
          </a:p>
        </p:txBody>
      </p:sp>
      <p:sp>
        <p:nvSpPr>
          <p:cNvPr id="141" name="Google Shape;141;p26"/>
          <p:cNvSpPr txBox="1"/>
          <p:nvPr>
            <p:ph idx="3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cxnSp>
        <p:nvCxnSpPr>
          <p:cNvPr id="142" name="Google Shape;142;p26"/>
          <p:cNvCxnSpPr/>
          <p:nvPr/>
        </p:nvCxnSpPr>
        <p:spPr>
          <a:xfrm>
            <a:off x="8112224" y="1773238"/>
            <a:ext cx="0" cy="446960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3" name="Google Shape;143;p26"/>
          <p:cNvSpPr/>
          <p:nvPr/>
        </p:nvSpPr>
        <p:spPr>
          <a:xfrm>
            <a:off x="11060443" y="239793"/>
            <a:ext cx="507653" cy="17606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orient="horz" pos="1117">
          <p15:clr>
            <a:srgbClr val="5ACBF0"/>
          </p15:clr>
        </p15:guide>
        <p15:guide id="4" orient="horz" pos="391">
          <p15:clr>
            <a:srgbClr val="5ACBF0"/>
          </p15:clr>
        </p15:guide>
        <p15:guide id="5" pos="7287">
          <p15:clr>
            <a:srgbClr val="5ACBF0"/>
          </p15:clr>
        </p15:guide>
        <p15:guide id="6" pos="5473">
          <p15:clr>
            <a:srgbClr val="5ACBF0"/>
          </p15:clr>
        </p15:guide>
        <p15:guide id="7" pos="4747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s">
  <p:cSld name="Two Conten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27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623872" y="1773238"/>
            <a:ext cx="51840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2" type="body"/>
          </p:nvPr>
        </p:nvSpPr>
        <p:spPr>
          <a:xfrm>
            <a:off x="6383338" y="1773238"/>
            <a:ext cx="51847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3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17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pos="4021">
          <p15:clr>
            <a:srgbClr val="5ACBF0"/>
          </p15:clr>
        </p15:guide>
        <p15:guide id="5" pos="3659">
          <p15:clr>
            <a:srgbClr val="5ACBF0"/>
          </p15:clr>
        </p15:guide>
        <p15:guide id="6" orient="horz" pos="391">
          <p15:clr>
            <a:srgbClr val="5ACBF0"/>
          </p15:clr>
        </p15:guide>
        <p15:guide id="7" orient="horz" pos="3929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s">
  <p:cSld name="Three Content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8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623872" y="1773237"/>
            <a:ext cx="3240000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2" type="body"/>
          </p:nvPr>
        </p:nvSpPr>
        <p:spPr>
          <a:xfrm>
            <a:off x="4476240" y="1773238"/>
            <a:ext cx="3240000" cy="446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3" type="body"/>
          </p:nvPr>
        </p:nvSpPr>
        <p:spPr>
          <a:xfrm>
            <a:off x="8328608" y="1773238"/>
            <a:ext cx="3240000" cy="446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4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2434">
          <p15:clr>
            <a:srgbClr val="5ACBF0"/>
          </p15:clr>
        </p15:guide>
        <p15:guide id="7" pos="2820">
          <p15:clr>
            <a:srgbClr val="5ACBF0"/>
          </p15:clr>
        </p15:guide>
        <p15:guide id="8" pos="4861">
          <p15:clr>
            <a:srgbClr val="5ACBF0"/>
          </p15:clr>
        </p15:guide>
        <p15:guide id="9" pos="524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s">
  <p:cSld name="Four Content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9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623872" y="1773237"/>
            <a:ext cx="2304000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64" name="Google Shape;164;p29"/>
          <p:cNvSpPr txBox="1"/>
          <p:nvPr>
            <p:ph idx="2" type="body"/>
          </p:nvPr>
        </p:nvSpPr>
        <p:spPr>
          <a:xfrm>
            <a:off x="3503712" y="1773238"/>
            <a:ext cx="2304000" cy="446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3" type="body"/>
          </p:nvPr>
        </p:nvSpPr>
        <p:spPr>
          <a:xfrm>
            <a:off x="6384032" y="1773238"/>
            <a:ext cx="2304000" cy="446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4" type="body"/>
          </p:nvPr>
        </p:nvSpPr>
        <p:spPr>
          <a:xfrm>
            <a:off x="9263118" y="1773238"/>
            <a:ext cx="2304000" cy="446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67" name="Google Shape;167;p29"/>
          <p:cNvSpPr txBox="1"/>
          <p:nvPr>
            <p:ph idx="5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1844">
          <p15:clr>
            <a:srgbClr val="5ACBF0"/>
          </p15:clr>
        </p15:guide>
        <p15:guide id="7" pos="2207">
          <p15:clr>
            <a:srgbClr val="5ACBF0"/>
          </p15:clr>
        </p15:guide>
        <p15:guide id="8" pos="3659">
          <p15:clr>
            <a:srgbClr val="5ACBF0"/>
          </p15:clr>
        </p15:guide>
        <p15:guide id="9" pos="5473">
          <p15:clr>
            <a:srgbClr val="5ACBF0"/>
          </p15:clr>
        </p15:guide>
        <p15:guide id="10" pos="4021">
          <p15:clr>
            <a:srgbClr val="5ACBF0"/>
          </p15:clr>
        </p15:guide>
        <p15:guide id="11" pos="5836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ntent | Picture Right">
  <p:cSld name="One Content | Picture Righ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30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623872" y="1773238"/>
            <a:ext cx="34560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73" name="Google Shape;173;p30"/>
          <p:cNvSpPr/>
          <p:nvPr>
            <p:ph idx="2" type="pic"/>
          </p:nvPr>
        </p:nvSpPr>
        <p:spPr>
          <a:xfrm>
            <a:off x="5232400" y="1773238"/>
            <a:ext cx="6335713" cy="446405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0"/>
          <p:cNvSpPr txBox="1"/>
          <p:nvPr>
            <p:ph idx="3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2570">
          <p15:clr>
            <a:srgbClr val="5ACBF0"/>
          </p15:clr>
        </p15:guide>
        <p15:guide id="7" pos="3296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ntent | Picture Left">
  <p:cSld name="One Content | Picture Lef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77" name="Google Shape;177;p31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31"/>
          <p:cNvSpPr txBox="1"/>
          <p:nvPr>
            <p:ph type="title"/>
          </p:nvPr>
        </p:nvSpPr>
        <p:spPr>
          <a:xfrm>
            <a:off x="6959600" y="620687"/>
            <a:ext cx="4608512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6960096" y="1773238"/>
            <a:ext cx="46080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175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6pPr>
            <a:lvl7pPr indent="-22860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921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000"/>
              <a:buChar char="▪"/>
              <a:defRPr/>
            </a:lvl8pPr>
            <a:lvl9pPr indent="-2921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Char char="–"/>
              <a:defRPr/>
            </a:lvl9pPr>
          </a:lstStyle>
          <a:p/>
        </p:txBody>
      </p:sp>
      <p:sp>
        <p:nvSpPr>
          <p:cNvPr id="180" name="Google Shape;180;p31"/>
          <p:cNvSpPr/>
          <p:nvPr>
            <p:ph idx="2" type="pic"/>
          </p:nvPr>
        </p:nvSpPr>
        <p:spPr>
          <a:xfrm>
            <a:off x="623392" y="620713"/>
            <a:ext cx="5184000" cy="5616575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1"/>
          <p:cNvSpPr txBox="1"/>
          <p:nvPr>
            <p:ph idx="3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3659">
          <p15:clr>
            <a:srgbClr val="5ACBF0"/>
          </p15:clr>
        </p15:guide>
        <p15:guide id="7" pos="4384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Picture">
  <p:cSld name="One Pictur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84" name="Google Shape;184;p32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32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2"/>
          <p:cNvSpPr/>
          <p:nvPr>
            <p:ph idx="2" type="pic"/>
          </p:nvPr>
        </p:nvSpPr>
        <p:spPr>
          <a:xfrm>
            <a:off x="623872" y="1773238"/>
            <a:ext cx="10944241" cy="446405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32"/>
          <p:cNvSpPr txBox="1"/>
          <p:nvPr>
            <p:ph idx="1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17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3929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" showMasterSp="0">
  <p:cSld name="Big Picture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idx="10" type="dt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700"/>
              <a:buFont typeface="Arial"/>
              <a:buNone/>
              <a:defRPr b="0" i="0" sz="700" u="none" cap="none" strike="noStrike"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190" name="Google Shape;190;p33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700" u="none" cap="none" strike="noStrike"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33"/>
          <p:cNvSpPr/>
          <p:nvPr/>
        </p:nvSpPr>
        <p:spPr>
          <a:xfrm>
            <a:off x="12432704" y="1628800"/>
            <a:ext cx="1512168" cy="72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45" y="61576"/>
                </a:moveTo>
                <a:lnTo>
                  <a:pt x="-18094" y="61651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Adjust transparency of the picture to ensure readability.</a:t>
            </a:r>
            <a:endParaRPr/>
          </a:p>
        </p:txBody>
      </p:sp>
      <p:sp>
        <p:nvSpPr>
          <p:cNvPr id="193" name="Google Shape;193;p33"/>
          <p:cNvSpPr/>
          <p:nvPr>
            <p:ph idx="2" type="pic"/>
          </p:nvPr>
        </p:nvSpPr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3"/>
          <p:cNvSpPr txBox="1"/>
          <p:nvPr>
            <p:ph type="title"/>
          </p:nvPr>
        </p:nvSpPr>
        <p:spPr>
          <a:xfrm>
            <a:off x="623888" y="4365312"/>
            <a:ext cx="5183984" cy="18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nest Medium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11060496" y="239458"/>
            <a:ext cx="507600" cy="176400"/>
          </a:xfrm>
          <a:prstGeom prst="rect">
            <a:avLst/>
          </a:prstGeom>
          <a:noFill/>
          <a:ln cap="flat" cmpd="sng" w="9525">
            <a:solidFill>
              <a:schemeClr val="dk2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nest"/>
              <a:buNone/>
              <a:defRPr sz="1000"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3">
          <p15:clr>
            <a:srgbClr val="5ACBF0"/>
          </p15:clr>
        </p15:guide>
        <p15:guide id="2" orient="horz" pos="39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3929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34"/>
          <p:cNvSpPr txBox="1"/>
          <p:nvPr>
            <p:ph type="title"/>
          </p:nvPr>
        </p:nvSpPr>
        <p:spPr>
          <a:xfrm>
            <a:off x="623888" y="1484784"/>
            <a:ext cx="691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nest Medium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Onest"/>
                <a:ea typeface="Onest"/>
                <a:cs typeface="Onest"/>
                <a:sym typeface="Onest"/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Onest"/>
                <a:ea typeface="Onest"/>
                <a:cs typeface="Onest"/>
                <a:sym typeface="Onest"/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7pPr>
            <a:lvl8pPr indent="-228600" lvl="7" marL="3657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8pPr>
            <a:lvl9pPr indent="-228600" lvl="8" marL="41148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3200"/>
              <a:buNone/>
              <a:defRPr sz="3200"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201" name="Google Shape;201;p34"/>
          <p:cNvSpPr/>
          <p:nvPr/>
        </p:nvSpPr>
        <p:spPr>
          <a:xfrm>
            <a:off x="9606976" y="0"/>
            <a:ext cx="258502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4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  <p:sp>
        <p:nvSpPr>
          <p:cNvPr id="203" name="Google Shape;203;p34"/>
          <p:cNvSpPr/>
          <p:nvPr/>
        </p:nvSpPr>
        <p:spPr>
          <a:xfrm>
            <a:off x="10580483" y="-1"/>
            <a:ext cx="1276157" cy="96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04" name="Google Shape;204;p34"/>
          <p:cNvSpPr/>
          <p:nvPr/>
        </p:nvSpPr>
        <p:spPr>
          <a:xfrm>
            <a:off x="11060443" y="239793"/>
            <a:ext cx="507653" cy="17606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138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Only Title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1pPr>
            <a:lvl2pPr indent="0" lvl="1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2pPr>
            <a:lvl3pPr indent="0" lvl="2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3pPr>
            <a:lvl4pPr indent="0" lvl="3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4pPr>
            <a:lvl5pPr indent="0" lvl="4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5pPr>
            <a:lvl6pPr indent="0" lvl="5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6pPr>
            <a:lvl7pPr indent="0" lvl="6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7pPr>
            <a:lvl8pPr indent="0" lvl="7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8pPr>
            <a:lvl9pPr indent="0" lvl="8" mar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35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5"/>
          <p:cNvSpPr txBox="1"/>
          <p:nvPr>
            <p:ph idx="1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  <a:defRPr sz="1000">
                <a:solidFill>
                  <a:srgbClr val="8F8F8B"/>
                </a:solidFill>
                <a:latin typeface="Onest Medium"/>
                <a:ea typeface="Onest Medium"/>
                <a:cs typeface="Onest Medium"/>
                <a:sym typeface="Ones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929">
          <p15:clr>
            <a:srgbClr val="5ACBF0"/>
          </p15:clr>
        </p15:guide>
        <p15:guide id="2" pos="393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391">
          <p15:clr>
            <a:srgbClr val="5ACBF0"/>
          </p15:clr>
        </p15:guide>
        <p15:guide id="5" orient="horz" pos="1117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4"/>
          <p:cNvGrpSpPr/>
          <p:nvPr/>
        </p:nvGrpSpPr>
        <p:grpSpPr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10" name="Google Shape;10;p14"/>
            <p:cNvCxnSpPr/>
            <p:nvPr/>
          </p:nvCxnSpPr>
          <p:spPr>
            <a:xfrm>
              <a:off x="-456728" y="620688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" name="Google Shape;11;p14"/>
            <p:cNvCxnSpPr/>
            <p:nvPr/>
          </p:nvCxnSpPr>
          <p:spPr>
            <a:xfrm>
              <a:off x="-456728" y="6237312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" name="Google Shape;12;p14"/>
            <p:cNvCxnSpPr/>
            <p:nvPr/>
          </p:nvCxnSpPr>
          <p:spPr>
            <a:xfrm>
              <a:off x="-456728" y="1772816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"/>
                <a:ea typeface="Onest"/>
                <a:cs typeface="Onest"/>
                <a:sym typeface="Onest"/>
              </a:defRPr>
            </a:lvl1pPr>
            <a:lvl2pPr lvl="1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lvl="2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lvl="3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lvl="4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lvl="5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lvl="6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lvl="7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lvl="8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11208112" y="652536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1pPr>
            <a:lvl2pPr indent="0" lvl="1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indent="0" lvl="2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3pPr>
            <a:lvl4pPr indent="0" lvl="3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4pPr>
            <a:lvl5pPr indent="0" lvl="4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5pPr>
            <a:lvl6pPr indent="0" lvl="5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6pPr>
            <a:lvl7pPr indent="0" lvl="6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indent="0" lvl="7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8pPr>
            <a:lvl9pPr indent="0" lvl="8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F8F8B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4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  <a:defRPr b="0" i="0" sz="3200" u="none" cap="none" strike="noStrike">
                <a:solidFill>
                  <a:schemeClr val="lt2"/>
                </a:solidFill>
                <a:latin typeface="Onest Medium"/>
                <a:ea typeface="Onest Medium"/>
                <a:cs typeface="Onest Medium"/>
                <a:sym typeface="One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4"/>
          <p:cNvSpPr txBox="1"/>
          <p:nvPr>
            <p:ph idx="1" type="body"/>
          </p:nvPr>
        </p:nvSpPr>
        <p:spPr>
          <a:xfrm>
            <a:off x="623888" y="1773239"/>
            <a:ext cx="1094422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–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indent="-228600" lvl="5" marL="27432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indent="-228600" lvl="6" marL="32004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nest SemiBold"/>
                <a:ea typeface="Onest SemiBold"/>
                <a:cs typeface="Onest SemiBold"/>
                <a:sym typeface="Onest SemiBold"/>
              </a:defRPr>
            </a:lvl7pPr>
            <a:lvl8pPr indent="-292100" lvl="7" marL="365760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indent="-292100" lvl="8" marL="4114800" marR="0" rtl="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Font typeface="Onest"/>
              <a:buChar char="–"/>
              <a:defRPr b="0" i="0" sz="1000" u="none" cap="none" strike="noStrik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/>
        </p:txBody>
      </p:sp>
      <p:grpSp>
        <p:nvGrpSpPr>
          <p:cNvPr id="17" name="Google Shape;17;p14"/>
          <p:cNvGrpSpPr/>
          <p:nvPr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18" name="Google Shape;18;p14"/>
            <p:cNvCxnSpPr/>
            <p:nvPr/>
          </p:nvCxnSpPr>
          <p:spPr>
            <a:xfrm>
              <a:off x="623888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4"/>
            <p:cNvCxnSpPr/>
            <p:nvPr/>
          </p:nvCxnSpPr>
          <p:spPr>
            <a:xfrm>
              <a:off x="1199888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4"/>
            <p:cNvCxnSpPr/>
            <p:nvPr/>
          </p:nvCxnSpPr>
          <p:spPr>
            <a:xfrm>
              <a:off x="1775888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4"/>
            <p:cNvCxnSpPr/>
            <p:nvPr/>
          </p:nvCxnSpPr>
          <p:spPr>
            <a:xfrm>
              <a:off x="2352016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4"/>
            <p:cNvCxnSpPr/>
            <p:nvPr/>
          </p:nvCxnSpPr>
          <p:spPr>
            <a:xfrm>
              <a:off x="2928144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4"/>
            <p:cNvCxnSpPr/>
            <p:nvPr/>
          </p:nvCxnSpPr>
          <p:spPr>
            <a:xfrm>
              <a:off x="3504272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4"/>
            <p:cNvCxnSpPr/>
            <p:nvPr/>
          </p:nvCxnSpPr>
          <p:spPr>
            <a:xfrm>
              <a:off x="4080400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4"/>
            <p:cNvCxnSpPr/>
            <p:nvPr/>
          </p:nvCxnSpPr>
          <p:spPr>
            <a:xfrm>
              <a:off x="4656528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4"/>
            <p:cNvCxnSpPr/>
            <p:nvPr/>
          </p:nvCxnSpPr>
          <p:spPr>
            <a:xfrm>
              <a:off x="5232656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4"/>
            <p:cNvCxnSpPr/>
            <p:nvPr/>
          </p:nvCxnSpPr>
          <p:spPr>
            <a:xfrm>
              <a:off x="5808784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4"/>
            <p:cNvCxnSpPr/>
            <p:nvPr/>
          </p:nvCxnSpPr>
          <p:spPr>
            <a:xfrm>
              <a:off x="6384912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4"/>
            <p:cNvCxnSpPr/>
            <p:nvPr/>
          </p:nvCxnSpPr>
          <p:spPr>
            <a:xfrm>
              <a:off x="6961040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4"/>
            <p:cNvCxnSpPr/>
            <p:nvPr/>
          </p:nvCxnSpPr>
          <p:spPr>
            <a:xfrm>
              <a:off x="7537168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4"/>
            <p:cNvCxnSpPr/>
            <p:nvPr/>
          </p:nvCxnSpPr>
          <p:spPr>
            <a:xfrm>
              <a:off x="8113296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4"/>
            <p:cNvCxnSpPr/>
            <p:nvPr/>
          </p:nvCxnSpPr>
          <p:spPr>
            <a:xfrm>
              <a:off x="8689424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" name="Google Shape;33;p14"/>
            <p:cNvCxnSpPr/>
            <p:nvPr/>
          </p:nvCxnSpPr>
          <p:spPr>
            <a:xfrm>
              <a:off x="9265552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4"/>
            <p:cNvCxnSpPr/>
            <p:nvPr/>
          </p:nvCxnSpPr>
          <p:spPr>
            <a:xfrm>
              <a:off x="9841680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4"/>
            <p:cNvCxnSpPr/>
            <p:nvPr/>
          </p:nvCxnSpPr>
          <p:spPr>
            <a:xfrm>
              <a:off x="10417808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4"/>
            <p:cNvCxnSpPr/>
            <p:nvPr/>
          </p:nvCxnSpPr>
          <p:spPr>
            <a:xfrm>
              <a:off x="10993936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4"/>
            <p:cNvCxnSpPr/>
            <p:nvPr/>
          </p:nvCxnSpPr>
          <p:spPr>
            <a:xfrm>
              <a:off x="11570064" y="-279400"/>
              <a:ext cx="0" cy="108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4"/>
            <p:cNvCxnSpPr/>
            <p:nvPr/>
          </p:nvCxnSpPr>
          <p:spPr>
            <a:xfrm>
              <a:off x="623888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4"/>
            <p:cNvCxnSpPr/>
            <p:nvPr/>
          </p:nvCxnSpPr>
          <p:spPr>
            <a:xfrm>
              <a:off x="1775888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4"/>
            <p:cNvCxnSpPr/>
            <p:nvPr/>
          </p:nvCxnSpPr>
          <p:spPr>
            <a:xfrm>
              <a:off x="2928144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4"/>
            <p:cNvCxnSpPr/>
            <p:nvPr/>
          </p:nvCxnSpPr>
          <p:spPr>
            <a:xfrm>
              <a:off x="4080400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4"/>
            <p:cNvCxnSpPr/>
            <p:nvPr/>
          </p:nvCxnSpPr>
          <p:spPr>
            <a:xfrm>
              <a:off x="5232656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4"/>
            <p:cNvCxnSpPr/>
            <p:nvPr/>
          </p:nvCxnSpPr>
          <p:spPr>
            <a:xfrm>
              <a:off x="6384912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4"/>
            <p:cNvCxnSpPr/>
            <p:nvPr/>
          </p:nvCxnSpPr>
          <p:spPr>
            <a:xfrm>
              <a:off x="7537168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4"/>
            <p:cNvCxnSpPr/>
            <p:nvPr/>
          </p:nvCxnSpPr>
          <p:spPr>
            <a:xfrm>
              <a:off x="8689424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4"/>
            <p:cNvCxnSpPr/>
            <p:nvPr/>
          </p:nvCxnSpPr>
          <p:spPr>
            <a:xfrm>
              <a:off x="9841680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4"/>
            <p:cNvCxnSpPr/>
            <p:nvPr/>
          </p:nvCxnSpPr>
          <p:spPr>
            <a:xfrm>
              <a:off x="10993936" y="-221540"/>
              <a:ext cx="576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48" name="Google Shape;48;p14"/>
          <p:cNvSpPr txBox="1"/>
          <p:nvPr/>
        </p:nvSpPr>
        <p:spPr>
          <a:xfrm>
            <a:off x="8689424" y="6525360"/>
            <a:ext cx="230292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F8F8B"/>
                </a:solidFill>
                <a:latin typeface="Onest"/>
                <a:ea typeface="Onest"/>
                <a:cs typeface="Onest"/>
                <a:sym typeface="Onest"/>
              </a:rPr>
              <a:t>© 2026 BlackBerry Limited. All rights reserved.</a:t>
            </a:r>
            <a:endParaRPr b="0" i="0" sz="700" u="none" cap="none" strike="noStrike">
              <a:solidFill>
                <a:srgbClr val="8F8F8B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9" name="Google Shape;49;p14"/>
          <p:cNvSpPr/>
          <p:nvPr/>
        </p:nvSpPr>
        <p:spPr>
          <a:xfrm>
            <a:off x="11060443" y="239793"/>
            <a:ext cx="507653" cy="176065"/>
          </a:xfrm>
          <a:prstGeom prst="rect">
            <a:avLst/>
          </a:prstGeom>
          <a:noFill/>
          <a:ln>
            <a:noFill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"/>
          <p:cNvSpPr/>
          <p:nvPr/>
        </p:nvSpPr>
        <p:spPr>
          <a:xfrm>
            <a:off x="0" y="1809995"/>
            <a:ext cx="12192000" cy="418011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1C1C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pic>
        <p:nvPicPr>
          <p:cNvPr id="216" name="Google Shape;2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09996"/>
            <a:ext cx="12192000" cy="4180114"/>
          </a:xfrm>
          <a:prstGeom prst="rect">
            <a:avLst/>
          </a:prstGeom>
          <a:noFill/>
          <a:ln cap="flat" cmpd="sng" w="9525">
            <a:solidFill>
              <a:srgbClr val="C1C1C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1"/>
          <p:cNvSpPr/>
          <p:nvPr/>
        </p:nvSpPr>
        <p:spPr>
          <a:xfrm>
            <a:off x="6236207" y="2004289"/>
            <a:ext cx="5881901" cy="374996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pic>
        <p:nvPicPr>
          <p:cNvPr id="218" name="Google Shape;2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604" y="144297"/>
            <a:ext cx="1962424" cy="1009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5241" y="283687"/>
            <a:ext cx="1586287" cy="749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"/>
          <p:cNvSpPr txBox="1"/>
          <p:nvPr/>
        </p:nvSpPr>
        <p:spPr>
          <a:xfrm>
            <a:off x="6392971" y="2151990"/>
            <a:ext cx="53508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C37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EF4C37"/>
                </a:solidFill>
                <a:latin typeface="Onest"/>
                <a:ea typeface="Onest"/>
                <a:cs typeface="Onest"/>
                <a:sym typeface="Onest"/>
              </a:rPr>
              <a:t>State Level Hackathon</a:t>
            </a:r>
            <a:endParaRPr/>
          </a:p>
        </p:txBody>
      </p:sp>
      <p:sp>
        <p:nvSpPr>
          <p:cNvPr id="221" name="Google Shape;221;p1"/>
          <p:cNvSpPr txBox="1"/>
          <p:nvPr>
            <p:ph type="ctrTitle"/>
          </p:nvPr>
        </p:nvSpPr>
        <p:spPr>
          <a:xfrm>
            <a:off x="6435000" y="3757699"/>
            <a:ext cx="53508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nest Medium"/>
              <a:buNone/>
            </a:pPr>
            <a:r>
              <a:rPr b="1" lang="en-US" sz="3200"/>
              <a:t>Driver drowsiness and Attention monitoring system</a:t>
            </a:r>
            <a:endParaRPr sz="3600"/>
          </a:p>
        </p:txBody>
      </p:sp>
      <p:sp>
        <p:nvSpPr>
          <p:cNvPr id="222" name="Google Shape;222;p1"/>
          <p:cNvSpPr txBox="1"/>
          <p:nvPr/>
        </p:nvSpPr>
        <p:spPr>
          <a:xfrm>
            <a:off x="6434996" y="5324345"/>
            <a:ext cx="5350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81C1E"/>
                </a:solidFill>
                <a:latin typeface="Onest"/>
                <a:ea typeface="Onest"/>
                <a:cs typeface="Onest"/>
                <a:sym typeface="Onest"/>
              </a:rPr>
              <a:t>Deterministic QNX supervision for AI-based driver fatigue detection</a:t>
            </a:r>
            <a:endParaRPr sz="1800">
              <a:solidFill>
                <a:srgbClr val="181C1E"/>
              </a:solidFill>
              <a:latin typeface="Onest"/>
              <a:ea typeface="Onest"/>
              <a:cs typeface="Onest"/>
              <a:sym typeface="One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6392978" y="3383296"/>
            <a:ext cx="5184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0C0"/>
                </a:solidFill>
                <a:latin typeface="Onest"/>
                <a:ea typeface="Onest"/>
                <a:cs typeface="Onest"/>
                <a:sym typeface="Onest"/>
              </a:rPr>
              <a:t>SENTINELS</a:t>
            </a:r>
            <a:endParaRPr/>
          </a:p>
        </p:txBody>
      </p:sp>
      <p:sp>
        <p:nvSpPr>
          <p:cNvPr id="224" name="Google Shape;224;p1"/>
          <p:cNvSpPr/>
          <p:nvPr/>
        </p:nvSpPr>
        <p:spPr>
          <a:xfrm>
            <a:off x="9597869" y="243852"/>
            <a:ext cx="2438434" cy="4243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30" name="Google Shape;230;p4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</a:pPr>
            <a:r>
              <a:rPr lang="en-US"/>
              <a:t>Title &amp; Team Identity</a:t>
            </a:r>
            <a:endParaRPr/>
          </a:p>
        </p:txBody>
      </p:sp>
      <p:sp>
        <p:nvSpPr>
          <p:cNvPr id="231" name="Google Shape;231;p4"/>
          <p:cNvSpPr txBox="1"/>
          <p:nvPr>
            <p:ph idx="1" type="body"/>
          </p:nvPr>
        </p:nvSpPr>
        <p:spPr>
          <a:xfrm>
            <a:off x="623872" y="1773237"/>
            <a:ext cx="10944224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rtl="0"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000"/>
              <a:buNone/>
              <a:defRPr sz="1900" b="1">
                <a:latin typeface="Aptos"/>
              </a:defRPr>
            </a:pPr>
            <a:r>
              <a:t>Project</a:t>
            </a:r>
            <a:endParaRPr/>
          </a:p>
          <a:p>
            <a:pPr lvl="1">
              <a:spcAft>
                <a:spcPts val="300"/>
              </a:spcAft>
              <a:defRPr sz="1800">
                <a:latin typeface="Aptos"/>
              </a:defRPr>
            </a:pPr>
            <a:r>
              <a:t>DRIVE-X — real-time driver drowsiness and attention monitoring</a:t>
            </a:r>
          </a:p>
          <a:p>
            <a:pPr>
              <a:spcAft>
                <a:spcPts val="300"/>
              </a:spcAft>
              <a:defRPr sz="1900" b="1">
                <a:latin typeface="Aptos"/>
              </a:defRPr>
            </a:pPr>
            <a:r>
              <a:t>Team</a:t>
            </a:r>
          </a:p>
          <a:p>
            <a:pPr lvl="1">
              <a:spcAft>
                <a:spcPts val="300"/>
              </a:spcAft>
              <a:defRPr sz="1800">
                <a:latin typeface="Aptos"/>
              </a:defRPr>
            </a:pPr>
            <a:r>
              <a:t>Team Sentinels, Chennai | Automotive theme</a:t>
            </a:r>
          </a:p>
          <a:p>
            <a:pPr>
              <a:spcAft>
                <a:spcPts val="300"/>
              </a:spcAft>
              <a:defRPr sz="1900" b="1">
                <a:latin typeface="Aptos"/>
              </a:defRPr>
            </a:pPr>
            <a:r>
              <a:t>Value proposition</a:t>
            </a:r>
          </a:p>
          <a:p>
            <a:pPr lvl="1">
              <a:spcAft>
                <a:spcPts val="300"/>
              </a:spcAft>
              <a:defRPr sz="1800">
                <a:latin typeface="Aptos"/>
              </a:defRPr>
            </a:pPr>
            <a:r>
              <a:t>A QNX-supervised safety pipeline that turns live driver cues into deterministic drowsiness decisions and alerts.</a:t>
            </a:r>
          </a:p>
          <a:p>
            <a:pPr lvl="1">
              <a:spcAft>
                <a:spcPts val="300"/>
              </a:spcAft>
              <a:defRPr sz="1800">
                <a:latin typeface="Aptos"/>
              </a:defRPr>
            </a:pPr>
            <a:r>
              <a:t>Windows supplies camera frames only; the Raspberry Pi 5 performs decoding, ML inference, decision making, and safety response.</a:t>
            </a:r>
          </a:p>
        </p:txBody>
      </p:sp>
      <p:sp>
        <p:nvSpPr>
          <p:cNvPr id="232" name="Google Shape;232;p4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Design and Execution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38" name="Google Shape;238;p5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</a:pPr>
            <a:r>
              <a:rPr lang="en-US"/>
              <a:t>Problem Synthesis &amp; Scenario</a:t>
            </a:r>
            <a:endParaRPr/>
          </a:p>
        </p:txBody>
      </p:sp>
      <p:sp>
        <p:nvSpPr>
          <p:cNvPr id="239" name="Google Shape;239;p5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Design and Execution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3359175" y="5902425"/>
            <a:ext cx="88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513625" y="3609400"/>
            <a:ext cx="44775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1700"/>
              </a:spcBef>
              <a:spcAft>
                <a:spcPts val="800"/>
              </a:spcAft>
              <a:buNone/>
              <a:defRPr sz="1800" b="1">
                <a:latin typeface="Aptos"/>
              </a:defRPr>
            </a:pPr>
            <a:r>
              <a:t>Success metrics</a:t>
            </a:r>
            <a:endParaRPr b="1" sz="200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Drowsiness evidence reaches a QNX decision task predictably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Live ONNX inference executes on the Pi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Trace capture has zero dropped buffers</a:t>
            </a:r>
          </a:p>
        </p:txBody>
      </p:sp>
      <p:sp>
        <p:nvSpPr>
          <p:cNvPr id="242" name="Google Shape;242;p5"/>
          <p:cNvSpPr txBox="1"/>
          <p:nvPr/>
        </p:nvSpPr>
        <p:spPr>
          <a:xfrm>
            <a:off x="5630475" y="3844300"/>
            <a:ext cx="658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5283325" y="3477950"/>
            <a:ext cx="6585900" cy="3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marL="0" rtl="0" algn="l">
              <a:lnSpc>
                <a:spcPct val="150000"/>
              </a:lnSpc>
              <a:spcBef>
                <a:spcPts val="1700"/>
              </a:spcBef>
              <a:spcAft>
                <a:spcPts val="800"/>
              </a:spcAft>
              <a:buNone/>
              <a:defRPr sz="1800" b="1">
                <a:latin typeface="Aptos"/>
              </a:defRPr>
            </a:pPr>
            <a:r>
              <a:t>Why QNX</a:t>
            </a:r>
            <a:endParaRPr sz="2000">
              <a:solidFill>
                <a:schemeClr val="dk1"/>
              </a:solidFill>
              <a:latin typeface="Onest SemiBold"/>
              <a:ea typeface="Onest SemiBold"/>
              <a:cs typeface="Onest SemiBold"/>
              <a:sym typeface="Onest SemiBold"/>
            </a:endParaRP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Detection → decision → alert needs bounded scheduling.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Independent processes and message passing keep safety functions isolated from video and logging work.</a:t>
            </a:r>
          </a:p>
        </p:txBody>
      </p:sp>
      <p:sp>
        <p:nvSpPr>
          <p:cNvPr id="244" name="Google Shape;244;p5"/>
          <p:cNvSpPr txBox="1"/>
          <p:nvPr/>
        </p:nvSpPr>
        <p:spPr>
          <a:xfrm>
            <a:off x="623875" y="1386450"/>
            <a:ext cx="11547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marL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000"/>
              <a:buFont typeface="Arial"/>
              <a:buNone/>
              <a:defRPr sz="1900" b="1">
                <a:latin typeface="Aptos"/>
              </a:defRPr>
            </a:pPr>
            <a:r>
              <a:t>Driving scenario</a:t>
            </a:r>
            <a:endParaRPr b="1" sz="1300">
              <a:latin typeface="Onest"/>
              <a:ea typeface="Onest"/>
              <a:cs typeface="Onest"/>
              <a:sym typeface="Onest"/>
            </a:endParaRPr>
          </a:p>
          <a:p>
            <a:pPr>
              <a:spcAft>
                <a:spcPts val="500"/>
              </a:spcAft>
              <a:defRPr sz="1700" b="0">
                <a:latin typeface="Aptos"/>
              </a:defRPr>
            </a:pPr>
            <a:r>
              <a:t>A driver shows sustained eye closure, yawns, or head-pose deviation during a journey.</a:t>
            </a:r>
          </a:p>
          <a:p>
            <a:pPr>
              <a:spcAft>
                <a:spcPts val="500"/>
              </a:spcAft>
              <a:defRPr sz="1700" b="0">
                <a:latin typeface="Aptos"/>
              </a:defRPr>
            </a:pPr>
            <a:r>
              <a:t>DRIVE-X detects the cues, enters a drowsy state, and raises an emergency alert with available location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50" name="Google Shape;250;p6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</a:pPr>
            <a:r>
              <a:rPr lang="en-US"/>
              <a:t>QNX Architectural Approach</a:t>
            </a:r>
            <a:endParaRPr/>
          </a:p>
        </p:txBody>
      </p:sp>
      <p:sp>
        <p:nvSpPr>
          <p:cNvPr id="251" name="Google Shape;251;p6"/>
          <p:cNvSpPr txBox="1"/>
          <p:nvPr>
            <p:ph idx="1" type="body"/>
          </p:nvPr>
        </p:nvSpPr>
        <p:spPr>
          <a:xfrm>
            <a:off x="447450" y="1302550"/>
            <a:ext cx="3688200" cy="5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1800" b="1">
                <a:latin typeface="Aptos"/>
              </a:defRPr>
            </a:pPr>
            <a:r>
              <a:t>Microkernel pipeline</a:t>
            </a:r>
            <a:endParaRPr b="1" sz="2200"/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Separate QNX processes: video receiver, ONNX inference, decision, alert, GPS, logger, supervisor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POSIX shared memory carries decoded RGB frames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QNX message passing carries inference evidence to the decision service</a:t>
            </a:r>
          </a:p>
        </p:txBody>
      </p:sp>
      <p:sp>
        <p:nvSpPr>
          <p:cNvPr id="252" name="Google Shape;252;p6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Design and Execution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4439150" y="1209600"/>
            <a:ext cx="3441000" cy="52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marL="0" rtl="0" algn="l">
              <a:lnSpc>
                <a:spcPct val="150000"/>
              </a:lnSpc>
              <a:spcBef>
                <a:spcPts val="400"/>
              </a:spcBef>
              <a:spcAft>
                <a:spcPts val="800"/>
              </a:spcAft>
              <a:buNone/>
              <a:defRPr sz="1800" b="1">
                <a:latin typeface="Aptos"/>
              </a:defRPr>
            </a:pPr>
            <a:r>
              <a:t>Resource isolation</a:t>
            </a:r>
            <a:endParaRPr sz="310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CPU affinity isolates time-sensitive services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FIFO: ingest CPU1, decision CPU2, alert CPU3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Sporadic: video decode CPU0, ONNX inference CPU3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Supervisor heartbeats restart failed services</a:t>
            </a:r>
          </a:p>
        </p:txBody>
      </p:sp>
      <p:sp>
        <p:nvSpPr>
          <p:cNvPr id="254" name="Google Shape;254;p6"/>
          <p:cNvSpPr txBox="1"/>
          <p:nvPr/>
        </p:nvSpPr>
        <p:spPr>
          <a:xfrm>
            <a:off x="8430850" y="1431450"/>
            <a:ext cx="3543000" cy="3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  <a:defRPr sz="1800" b="1">
                <a:latin typeface="Aptos"/>
              </a:defRPr>
            </a:pPr>
            <a:r>
              <a:t>Priority order</a:t>
            </a:r>
            <a:endParaRPr b="1" sz="2300">
              <a:latin typeface="Onest"/>
              <a:ea typeface="Onest"/>
              <a:cs typeface="Onest"/>
              <a:sym typeface="Onest"/>
            </a:endParaRP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1. Alert — FIFO 62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2. Ingest — FIFO 60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3. Decision — FIFO 58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4. ONNX inference — SPORADIC 40/15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5. Video RX — SPORADIC 25/10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6. GPS and logger — background sporadic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0a01e16747_2_29"/>
          <p:cNvSpPr txBox="1"/>
          <p:nvPr>
            <p:ph type="title"/>
          </p:nvPr>
        </p:nvSpPr>
        <p:spPr>
          <a:xfrm>
            <a:off x="623888" y="620687"/>
            <a:ext cx="109443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Architectural Diagram</a:t>
            </a:r>
            <a:endParaRPr/>
          </a:p>
        </p:txBody>
      </p:sp>
      <p:sp>
        <p:nvSpPr>
          <p:cNvPr id="261" name="Google Shape;261;g40a01e16747_2_29"/>
          <p:cNvSpPr txBox="1"/>
          <p:nvPr>
            <p:ph idx="1" type="subTitle"/>
          </p:nvPr>
        </p:nvSpPr>
        <p:spPr>
          <a:xfrm>
            <a:off x="566513" y="476675"/>
            <a:ext cx="5184000" cy="14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6"/>
                </a:solidFill>
              </a:rPr>
              <a:t>Design and Execution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Picture 261" descr="drive_x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00" y="1302550"/>
            <a:ext cx="7057626" cy="51812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68" name="Google Shape;268;p7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</a:pPr>
            <a:r>
              <a:rPr lang="en-US"/>
              <a:t>Technical Execution (Hardware &amp; Logic)</a:t>
            </a:r>
            <a:endParaRPr/>
          </a:p>
        </p:txBody>
      </p:sp>
      <p:sp>
        <p:nvSpPr>
          <p:cNvPr id="269" name="Google Shape;269;p7"/>
          <p:cNvSpPr txBox="1"/>
          <p:nvPr>
            <p:ph idx="1" type="body"/>
          </p:nvPr>
        </p:nvSpPr>
        <p:spPr>
          <a:xfrm>
            <a:off x="623872" y="1773237"/>
            <a:ext cx="10944224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000"/>
              <a:buNone/>
              <a:defRPr sz="1700" b="1">
                <a:latin typeface="Aptos"/>
              </a:defRPr>
            </a:pPr>
            <a:r>
              <a:t>Hardware</a:t>
            </a:r>
            <a:endParaRPr/>
          </a:p>
          <a:p>
            <a:pPr lvl="1">
              <a:spcAft>
                <a:spcPts val="300"/>
              </a:spcAft>
              <a:defRPr sz="1600">
                <a:latin typeface="Aptos"/>
              </a:defRPr>
            </a:pPr>
            <a:r>
              <a:t>Raspberry Pi 5, 16 GB RAM, QNX SDP 8.0</a:t>
            </a:r>
          </a:p>
          <a:p>
            <a:pPr lvl="1">
              <a:spcAft>
                <a:spcPts val="300"/>
              </a:spcAft>
              <a:defRPr sz="1600">
                <a:latin typeface="Aptos"/>
              </a:defRPr>
            </a:pPr>
            <a:r>
              <a:t>Windows webcam source streams 640×480 JPEG frames over Ethernet/UDP</a:t>
            </a:r>
          </a:p>
          <a:p>
            <a:pPr lvl="1">
              <a:spcAft>
                <a:spcPts val="300"/>
              </a:spcAft>
              <a:defRPr sz="1600">
                <a:latin typeface="Aptos"/>
              </a:defRPr>
            </a:pPr>
            <a:r>
              <a:t>Optional NEO-7M GPS interface through UART; alert relay supports emergency notification</a:t>
            </a:r>
          </a:p>
          <a:p>
            <a:pPr>
              <a:spcAft>
                <a:spcPts val="300"/>
              </a:spcAft>
              <a:defRPr sz="1700" b="1">
                <a:latin typeface="Aptos"/>
              </a:defRPr>
            </a:pPr>
            <a:r>
              <a:t>Live QNX logic</a:t>
            </a:r>
          </a:p>
          <a:p>
            <a:pPr lvl="1">
              <a:spcAft>
                <a:spcPts val="300"/>
              </a:spcAft>
              <a:defRPr sz="1600">
                <a:latin typeface="Aptos"/>
              </a:defRPr>
            </a:pPr>
            <a:r>
              <a:t>vigil_video_rx receives JPEG packets and decodes them with QNX libimg</a:t>
            </a:r>
          </a:p>
          <a:p>
            <a:pPr lvl="1">
              <a:spcAft>
                <a:spcPts val="300"/>
              </a:spcAft>
              <a:defRPr sz="1600">
                <a:latin typeface="Aptos"/>
              </a:defRPr>
            </a:pPr>
            <a:r>
              <a:t>vigil_ort_inference runs face detection, eye-state classification, yawn classification, and head-pose tracking</a:t>
            </a:r>
          </a:p>
          <a:p>
            <a:pPr lvl="1">
              <a:spcAft>
                <a:spcPts val="300"/>
              </a:spcAft>
              <a:defRPr sz="1600">
                <a:latin typeface="Aptos"/>
              </a:defRPr>
            </a:pPr>
            <a:r>
              <a:t>vigil_decision maps evidence to ALERT, LOW VIGILANCE, CHECKING, or DROWSY</a:t>
            </a:r>
          </a:p>
          <a:p>
            <a:pPr>
              <a:spcAft>
                <a:spcPts val="300"/>
              </a:spcAft>
              <a:defRPr sz="1700" b="1">
                <a:latin typeface="Aptos"/>
              </a:defRPr>
            </a:pPr>
            <a:r>
              <a:t>Observed outputs</a:t>
            </a:r>
          </a:p>
          <a:p>
            <a:pPr lvl="1">
              <a:spcAft>
                <a:spcPts val="300"/>
              </a:spcAft>
              <a:defRPr sz="1600">
                <a:latin typeface="Aptos"/>
              </a:defRPr>
            </a:pPr>
            <a:r>
              <a:t>faces, eye-closure probability, yawn evidence, yaw, pitch, roll, inference time, and safety state</a:t>
            </a:r>
          </a:p>
        </p:txBody>
      </p:sp>
      <p:sp>
        <p:nvSpPr>
          <p:cNvPr id="270" name="Google Shape;270;p7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Design and Execution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76" name="Google Shape;276;p8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</a:pPr>
            <a:r>
              <a:rPr lang="en-US"/>
              <a:t>Resilience &amp; "The Hack" Response</a:t>
            </a:r>
            <a:endParaRPr/>
          </a:p>
        </p:txBody>
      </p:sp>
      <p:sp>
        <p:nvSpPr>
          <p:cNvPr id="277" name="Google Shape;277;p8"/>
          <p:cNvSpPr txBox="1"/>
          <p:nvPr>
            <p:ph idx="1" type="body"/>
          </p:nvPr>
        </p:nvSpPr>
        <p:spPr>
          <a:xfrm>
            <a:off x="623872" y="1773237"/>
            <a:ext cx="10944224" cy="44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000"/>
              <a:buNone/>
              <a:defRPr sz="1800" b="1">
                <a:latin typeface="Aptos"/>
              </a:defRPr>
            </a:pPr>
            <a:r>
              <a:t>Failure / stress cases</a:t>
            </a:r>
            <a:endParaRPr/>
          </a:p>
          <a:p>
            <a:pPr lvl="1">
              <a:spcAft>
                <a:spcPts val="300"/>
              </a:spcAft>
              <a:defRPr sz="1700">
                <a:latin typeface="Aptos"/>
              </a:defRPr>
            </a:pPr>
            <a:r>
              <a:t>Service exits, stale heartbeat, duplicate UDP bind, unavailable GPS device, and delayed decision service</a:t>
            </a:r>
          </a:p>
          <a:p>
            <a:pPr>
              <a:spcAft>
                <a:spcPts val="300"/>
              </a:spcAft>
              <a:defRPr sz="1800" b="1">
                <a:latin typeface="Aptos"/>
              </a:defRPr>
            </a:pPr>
            <a:r>
              <a:t>Mitigation</a:t>
            </a:r>
          </a:p>
          <a:p>
            <a:pPr lvl="1">
              <a:spcAft>
                <a:spcPts val="300"/>
              </a:spcAft>
              <a:defRPr sz="1700">
                <a:latin typeface="Aptos"/>
              </a:defRPr>
            </a:pPr>
            <a:r>
              <a:t>vigil_supervisor monitors process exits and heartbeat files</a:t>
            </a:r>
          </a:p>
          <a:p>
            <a:pPr lvl="1">
              <a:spcAft>
                <a:spcPts val="300"/>
              </a:spcAft>
              <a:defRPr sz="1700">
                <a:latin typeface="Aptos"/>
              </a:defRPr>
            </a:pPr>
            <a:r>
              <a:t>It relaunches individual services and records decision recovery time</a:t>
            </a:r>
          </a:p>
          <a:p>
            <a:pPr lvl="1">
              <a:spcAft>
                <a:spcPts val="300"/>
              </a:spcAft>
              <a:defRPr sz="1700">
                <a:latin typeface="Aptos"/>
              </a:defRPr>
            </a:pPr>
            <a:r>
              <a:t>Frame receiver rejects malformed packets; double-buffered shared memory avoids partially written RGB frames</a:t>
            </a:r>
          </a:p>
          <a:p>
            <a:pPr>
              <a:spcAft>
                <a:spcPts val="300"/>
              </a:spcAft>
              <a:defRPr sz="1800" b="1">
                <a:latin typeface="Aptos"/>
              </a:defRPr>
            </a:pPr>
            <a:r>
              <a:t>Demonstrated resilience</a:t>
            </a:r>
          </a:p>
          <a:p>
            <a:pPr lvl="1">
              <a:spcAft>
                <a:spcPts val="300"/>
              </a:spcAft>
              <a:defRPr sz="1700">
                <a:latin typeface="Aptos"/>
              </a:defRPr>
            </a:pPr>
            <a:r>
              <a:t>The pipeline reported recovery results and continued to process live JPEG frames after supervised service restarts.</a:t>
            </a:r>
          </a:p>
        </p:txBody>
      </p:sp>
      <p:sp>
        <p:nvSpPr>
          <p:cNvPr id="278" name="Google Shape;278;p8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Design and Execution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84" name="Google Shape;284;p11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</a:pPr>
            <a:r>
              <a:rPr lang="en-US"/>
              <a:t>Performance Proof (The Profiler Slide)</a:t>
            </a:r>
            <a:endParaRPr/>
          </a:p>
        </p:txBody>
      </p:sp>
      <p:sp>
        <p:nvSpPr>
          <p:cNvPr id="286" name="Google Shape;286;p11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Demonstration</a:t>
            </a:r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658368" y="1152144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52222"/>
                </a:solidFill>
                <a:latin typeface="Aptos"/>
              </a:defRPr>
            </a:pPr>
            <a:r>
              <a:t>Live QNX System Profiler evidence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58368" y="1435608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033"/>
                </a:solidFill>
                <a:latin typeface="Aptos"/>
              </a:defRPr>
            </a:pPr>
            <a:r>
              <a:t>QNX local ONNX inference service</a:t>
            </a:r>
          </a:p>
        </p:txBody>
      </p:sp>
      <p:pic>
        <p:nvPicPr>
          <p:cNvPr id="289" name="Picture 288" descr="profiler_inference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45920"/>
            <a:ext cx="10881360" cy="969264"/>
          </a:xfrm>
          <a:prstGeom prst="rect">
            <a:avLst/>
          </a:prstGeom>
        </p:spPr>
      </p:pic>
      <p:sp>
        <p:nvSpPr>
          <p:cNvPr id="290" name="TextBox 289"/>
          <p:cNvSpPr txBox="1"/>
          <p:nvPr/>
        </p:nvSpPr>
        <p:spPr>
          <a:xfrm>
            <a:off x="658368" y="267919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92033"/>
                </a:solidFill>
                <a:latin typeface="Aptos"/>
              </a:defRPr>
            </a:pPr>
            <a:r>
              <a:t>QNX JPEG receiver / decoder service</a:t>
            </a:r>
          </a:p>
        </p:txBody>
      </p:sp>
      <p:pic>
        <p:nvPicPr>
          <p:cNvPr id="291" name="Picture 290" descr="profiler_video_rx.p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89504"/>
            <a:ext cx="10881360" cy="969264"/>
          </a:xfrm>
          <a:prstGeom prst="rect">
            <a:avLst/>
          </a:prstGeom>
        </p:spPr>
      </p:pic>
      <p:sp>
        <p:nvSpPr>
          <p:cNvPr id="292" name="TextBox 291"/>
          <p:cNvSpPr txBox="1"/>
          <p:nvPr/>
        </p:nvSpPr>
        <p:spPr>
          <a:xfrm>
            <a:off x="658368" y="4133087"/>
            <a:ext cx="10881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92033"/>
                </a:solidFill>
                <a:latin typeface="Aptos"/>
              </a:defRPr>
            </a:pPr>
            <a:r>
              <a:t>5.000 s trace  •  1,197,822 events  •  0 dropped buffers  •  4 CPUs</a:t>
            </a:r>
            <a:br/>
            <a:r>
              <a:t>vigil_ort_inference: 1.549 s running time, 33.259 ms ready time</a:t>
            </a:r>
            <a:br/>
            <a:r>
              <a:t>vigil_video_rx: 139.577 ms running time</a:t>
            </a:r>
            <a:br/>
            <a:r>
              <a:t>Live local inference: 237–256 ms/frame; JPEG decode: 7–11 ms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658368" y="5413248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B52222"/>
                </a:solidFill>
                <a:latin typeface="Aptos"/>
              </a:defRPr>
            </a:pPr>
            <a:r>
              <a:t>The profiler confirms that the Pi receives video and executes all ML inference under QNX scheduling.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  <p:sp>
        <p:nvSpPr>
          <p:cNvPr id="292" name="Google Shape;292;p12"/>
          <p:cNvSpPr txBox="1"/>
          <p:nvPr>
            <p:ph type="title"/>
          </p:nvPr>
        </p:nvSpPr>
        <p:spPr>
          <a:xfrm>
            <a:off x="623888" y="620687"/>
            <a:ext cx="10944224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</a:pPr>
            <a:r>
              <a:rPr lang="en-US"/>
              <a:t>Future Scalability &amp; Conclusion</a:t>
            </a:r>
            <a:endParaRPr/>
          </a:p>
        </p:txBody>
      </p:sp>
      <p:sp>
        <p:nvSpPr>
          <p:cNvPr id="293" name="Google Shape;293;p12"/>
          <p:cNvSpPr txBox="1"/>
          <p:nvPr>
            <p:ph idx="1" type="body"/>
          </p:nvPr>
        </p:nvSpPr>
        <p:spPr>
          <a:xfrm>
            <a:off x="623875" y="1773225"/>
            <a:ext cx="5854500" cy="3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15000"/>
              </a:lnSpc>
              <a:spcBef>
                <a:spcPts val="1400"/>
              </a:spcBef>
              <a:spcAft>
                <a:spcPts val="800"/>
              </a:spcAft>
              <a:buNone/>
              <a:defRPr sz="1800" b="1">
                <a:latin typeface="Aptos"/>
              </a:defRPr>
            </a:pPr>
            <a:r>
              <a:t>Next automotive steps</a:t>
            </a:r>
            <a:endParaRPr b="1" sz="2000">
              <a:solidFill>
                <a:srgbClr val="000000"/>
              </a:solidFill>
            </a:endParaRP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Connect the safety state to CAN / ECU interfaces for controlled speed reduction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Use automotive-grade camera, GNSS, power, and communication hardware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Add night-time robustness, driver calibration, and contextual risk fusion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• Validate with automotive safety, cybersecurity, and real-road test plans</a:t>
            </a:r>
          </a:p>
        </p:txBody>
      </p:sp>
      <p:sp>
        <p:nvSpPr>
          <p:cNvPr id="294" name="Google Shape;294;p12"/>
          <p:cNvSpPr txBox="1"/>
          <p:nvPr>
            <p:ph idx="2" type="subTitle"/>
          </p:nvPr>
        </p:nvSpPr>
        <p:spPr>
          <a:xfrm>
            <a:off x="623888" y="29880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8F8B"/>
              </a:buClr>
              <a:buSzPts val="1000"/>
              <a:buNone/>
            </a:pPr>
            <a:r>
              <a:rPr lang="en-US"/>
              <a:t>Demonstration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6602375" y="1778825"/>
            <a:ext cx="5614200" cy="3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marL="0" rtl="0" algn="l">
              <a:lnSpc>
                <a:spcPct val="115000"/>
              </a:lnSpc>
              <a:spcBef>
                <a:spcPts val="1400"/>
              </a:spcBef>
              <a:spcAft>
                <a:spcPts val="800"/>
              </a:spcAft>
              <a:buNone/>
              <a:defRPr sz="1800" b="1">
                <a:latin typeface="Aptos"/>
              </a:defRPr>
            </a:pPr>
            <a:r>
              <a:t>Learning outcome</a:t>
            </a:r>
            <a:endParaRPr b="1" sz="2200">
              <a:latin typeface="Onest"/>
              <a:ea typeface="Onest"/>
              <a:cs typeface="Onest"/>
              <a:sym typeface="Onest"/>
            </a:endParaRP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Built and profiled a complete AI-based driver-monitoring pipeline on QNX.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Separated non-critical video transport from QNX safety decision and alert services.</a:t>
            </a:r>
          </a:p>
          <a:p>
            <a:pPr>
              <a:spcAft>
                <a:spcPts val="500"/>
              </a:spcAft>
              <a:defRPr sz="1600" b="0">
                <a:latin typeface="Aptos"/>
              </a:defRPr>
            </a:pPr>
            <a:r>
              <a:t>Validated that the models execute locally on the Raspberry Pi 5.</a:t>
            </a:r>
          </a:p>
        </p:txBody>
      </p:sp>
      <p:sp>
        <p:nvSpPr>
          <p:cNvPr id="296" name="Google Shape;296;p12"/>
          <p:cNvSpPr txBox="1"/>
          <p:nvPr/>
        </p:nvSpPr>
        <p:spPr>
          <a:xfrm>
            <a:off x="774400" y="5436888"/>
            <a:ext cx="11128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marL="0" rtl="0" algn="l">
              <a:spcBef>
                <a:spcPts val="0"/>
              </a:spcBef>
              <a:spcAft>
                <a:spcPts val="800"/>
              </a:spcAft>
              <a:buNone/>
              <a:defRPr sz="2300" b="1">
                <a:latin typeface="Aptos"/>
              </a:defRPr>
            </a:pPr>
            <a:r>
              <a:t>DRIVE-X turns driver monitoring into a QNX-supervised, real-time safety response.</a:t>
            </a:r>
            <a:endParaRPr b="1" sz="200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"/>
          <p:cNvSpPr txBox="1"/>
          <p:nvPr>
            <p:ph type="title"/>
          </p:nvPr>
        </p:nvSpPr>
        <p:spPr>
          <a:xfrm>
            <a:off x="1796213" y="3177012"/>
            <a:ext cx="10944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nest Medium"/>
              <a:buNone/>
            </a:pPr>
            <a:r>
              <a:rPr lang="en-US" sz="4900"/>
              <a:t>Thank you</a:t>
            </a:r>
            <a:endParaRPr sz="4900"/>
          </a:p>
        </p:txBody>
      </p:sp>
      <p:sp>
        <p:nvSpPr>
          <p:cNvPr id="302" name="Google Shape;302;p13"/>
          <p:cNvSpPr txBox="1"/>
          <p:nvPr>
            <p:ph idx="11" type="ftr"/>
          </p:nvPr>
        </p:nvSpPr>
        <p:spPr>
          <a:xfrm>
            <a:off x="623872" y="6525360"/>
            <a:ext cx="5184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CONFIDENTIAL – SHARED UNDER NDA. DO NOT FORWARD.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NX | Light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2026-03-27T14:44:28Z</dcterms:created>
  <dc:creator>jharley@qnx.com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0x0101004815C3AF597C064C8EACF7750A706AA1</vt:lpwstr>
  </property>
  <property fmtid="{D5CDD505-2E9C-101B-9397-08002B2CF9AE}" pid="3" name="MediaServiceImageTags">
    <vt:lpwstr/>
  </property>
</Properties>
</file>